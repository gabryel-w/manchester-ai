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(0:00). Apresentem o grupo em uma frase. Tese do trabalho: usar IA onde o julgamento e ambiguo, regras onde ha certeza objetiva, e manter o humano com a palavra final. Nao gastem mais de 30 segundos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(0:30 a 2:00). Enfatizem a assimetria: errar para baixo mata, errar para cima congestiona. Mencionem a variabilidade entre profissionais como problema de equidade. Esse e o 'dor' que o comite precisa sentir.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(2:00 a 3:30). A classificacao nao e um detalhe academico: ela determina o desenho da solucao. Parte programavel vira regra; parte interpretativa vira LLM. Citem Simon e Shimizu.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(3:30 a 5:00). Percorram os 5 stakeholders rapido e gastem o tempo no conflito central. Outros conflitos para citar se perguntarem: velocidade vs profundidade da anamnese; privacidade (nuvem) vs desempenho; transparencia vs custo. FIM DO BLOCO 1 aos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TEORIA (5:00 a 6:45). Mapeiem cada fase de Shimizu para algo concreto do sistema, sem abstracao. A frase final e a dica do proprio professor no enunciado: usem-na como ponte para o requisito de XAI.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TEORIA (6:45 a 8:15). Conectem com Turban: subsistema de dados, de modelos e de dialogo. Reforcem que manter o humano no circuito nao e limitacao, e requisito etico e legal do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TEORIA (8:15 a 10:00). Este slide costuma render pontos: mostra dominio da teoria ao justificar ausencias, nao so presencas. FIM DO BLOCO 2 aos 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SOLUCAO (10:00 a 11:30). A frase-chave: cada tecnica no que faz melhor. LLM nao decide limiar objetivo; regra nao interpreta texto; RF da velocidade local. A divisao de trabalho reflete o diagnostico de problema semi-estruturado.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SOLUCAO (11:30 a 13:00). Deixem a figura falar: sigam o fluxo de cima para baixo com o dedo/apontador. Destaquem o ponto em que os dois caminhos convergem nas travas.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SOLUCAO (13:00 a 14:30). O exemplo das duas frases e o argumento mais forte da apresentacao: ensaiem ele. Notem a autocritica embutida: o proprio RF do projeto demonstra o limite da estatistica sem semantica (so enxerga flags de regex).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SOLUCAO (14:30 a 15:30). Mensagem: o prompt e a base de conhecimento do agente; especializa um modelo generico sem treinar nada. JSON estrito + temperatura 0,2 = consistencia e parse robusto.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(15:30 a 19:00). Roteiro ensaiado: (1) caso verde rapido para mostrar fluidez; (2) caso ambiguo para mostrar humildade do sistema; (3) o momento-chave: trava corrigindo o LLM ao vivo; (4) fila com cronometro. Tenham os 3 casos demo prontos nos chips da interface. Plano B: prints em backup se a internet falhar.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XAI (19:00 a 20:00). Respondam explicitamente a pergunta do enunciado: como o modelo justifica a decisao? Mostrem no print: justificativa com numeros, sinais de alerta, perguntas, confianca. FIM DO BLOCO 3 aos 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(20:00 a 21:30). Antecipem a critica obvia (dados nao sao reais) transformando-a em decisao consciente: etica + reprodutibilidade. Mencionem o reequilibrio deliberado das classes raras.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(21:30 a 23:30). Numeros com contexto: 87% num dataset sintetico e indicativo, nao validacao clinica. O par de cards e o argumento de defesa em profundidade: o erro residual do RF cai na rede das travas.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(23:30 a 25:30). Sensibilidade pedida no enunciado: o que acontece se os parametros mudarem. Conclusao das tres camadas: LLM absorve variacao semantica, RF responde a variacao estruturada, travas garantem que variacao critica nunca 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 (25:30 a 27:30). A rubrica pede 'onde ela falha': sejam especificos, nao genericos. Falar de vies com exemplo concreto (pediatria, doencas tropicais) vale mais que 'IA pode ter vies'.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(27:30 a 30:00). Tres trabalhos futuros no maximo, ditos com convicao. Fechem com a tese e abram para perguntas. Perguntas provaveis: 'e se o LLM cair?' (fallback e RF local + travas), 'por que nao fine-tuning?' (prompt engineering bastou para a PoC; fine-tuning e trabalho futuro), 'quem responde por um erro?' (o enfermeiro; o sistema e SAD, nao automacao).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777240"/>
            <a:ext cx="694944" cy="6949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94183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188720" y="239572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Apoio à Decisão com LLM e Random Forest para a triagem de pacientes segundo o Protocolo de Manchester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712464" y="31546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4"/>
          <p:cNvSpPr/>
          <p:nvPr/>
        </p:nvSpPr>
        <p:spPr>
          <a:xfrm>
            <a:off x="4096512" y="3154680"/>
            <a:ext cx="201168" cy="20116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Shape 5"/>
          <p:cNvSpPr/>
          <p:nvPr/>
        </p:nvSpPr>
        <p:spPr>
          <a:xfrm>
            <a:off x="4480560" y="3154680"/>
            <a:ext cx="201168" cy="20116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9" name="Shape 6"/>
          <p:cNvSpPr/>
          <p:nvPr/>
        </p:nvSpPr>
        <p:spPr>
          <a:xfrm>
            <a:off x="4864608" y="315468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5248656" y="3154680"/>
            <a:ext cx="201168" cy="20116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94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Especiais em Computação II  ·  URI</a:t>
            </a:r>
            <a:endParaRPr lang="en-US" sz="125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sobre IA no Processo Decisório  ·  Prof. Paulo Ricardo B. Betencourt</a:t>
            </a:r>
            <a:endParaRPr lang="en-US" sz="125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Gabryel W.  [integrantes do grupo]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1 · PITCH DO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Minutos para decidir, vidas em jogo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triagem de uma UPA, um enfermeiro decide a prioridade de cada paciente em poucos minutos, sob pressão, com informação incompleta e dezenas de casos por turno.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31920" cy="2286000"/>
          </a:xfrm>
          <a:prstGeom prst="roundRect">
            <a:avLst>
              <a:gd name="adj" fmla="val 28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SUBTRIAGEM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grave classificado como leve espera na fila. O custo pode ser um óbito na sala de espera.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custo: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3931920" cy="2286000"/>
          </a:xfrm>
          <a:prstGeom prst="roundRect">
            <a:avLst>
              <a:gd name="adj" fmla="val 28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48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SOBRETRIAGEM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leve classificado como urgente infla a fila e atrasa quem realmente precisa.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custo: eficiência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 erro é assimétrico. E a mesma queixa pode receber cores diferentes dependendo do triador.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3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1 · PITCH DO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problema de decisão semi-estruturado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2743200"/>
          </a:xfrm>
          <a:prstGeom prst="roundRect">
            <a:avLst>
              <a:gd name="adj" fmla="val 23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179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Parcela programável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objetivos de sinais vitais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&lt; 90% é emergência, sempre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máximos fixos por cor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regra determinística no código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31920" cy="2743200"/>
          </a:xfrm>
          <a:prstGeom prst="roundRect">
            <a:avLst>
              <a:gd name="adj" fmla="val 2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517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Parcela que exige julgamento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20116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 relatada em linguagem natural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“dor no peito que aperta desde ontem”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vagos + histórico + 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reduz a tabela de regras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103120" y="4224528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/>
        </p:spPr>
      </p:sp>
      <p:sp>
        <p:nvSpPr>
          <p:cNvPr id="13" name="Text 9"/>
          <p:cNvSpPr/>
          <p:nvPr/>
        </p:nvSpPr>
        <p:spPr>
          <a:xfrm>
            <a:off x="2103120" y="4224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Classificação (Simon / Shimizu): SEMI-ESTRUTURADO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1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1 · PITCH DO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Stakeholders com objetivos em conflito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5910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Paciente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já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85416" y="128016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88336" y="146304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910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31136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Enfermeiro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231136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respaldo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67912" y="128016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70832" y="146304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5910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Médico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913632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bem priorizada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550408" y="128016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053328" y="146304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5910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Gestor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596128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e métricas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232904" y="1280160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35824" y="146304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59105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78624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Regulador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278624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e rastro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02920" y="3200400"/>
            <a:ext cx="8138160" cy="1371600"/>
          </a:xfrm>
          <a:prstGeom prst="roundRect">
            <a:avLst>
              <a:gd name="adj" fmla="val 4667"/>
            </a:avLst>
          </a:prstGeom>
          <a:solidFill>
            <a:srgbClr val="0B1F2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61188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020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conflito central: segurança individual vs eficiência coletiva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1600200" y="376732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com folga protege o paciente avaliado, mas degrada a fila de todos os outros. O sistema assume posição explícita: na dúvida, a cor mais grave (worst-case first).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26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2 · FUNDAMENTAÇÃO TEÓRICA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processo decisório de Shimizu, fase a fase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38528" cy="2377440"/>
          </a:xfrm>
          <a:prstGeom prst="roundRect">
            <a:avLst>
              <a:gd name="adj" fmla="val 3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Inteligência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guiada: formulário estruturado + ditado por voz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736" y="242316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24328" y="1371600"/>
            <a:ext cx="1938528" cy="2377440"/>
          </a:xfrm>
          <a:prstGeom prst="roundRect">
            <a:avLst>
              <a:gd name="adj" fmla="val 3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07208" y="15727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280720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61488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Concepção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61488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cores do protocolo são as alternativas, com discriminadores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42316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45736" y="1371600"/>
            <a:ext cx="1938528" cy="2377440"/>
          </a:xfrm>
          <a:prstGeom prst="roundRect">
            <a:avLst>
              <a:gd name="adj" fmla="val 3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28616" y="15727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4"/>
          <p:cNvSpPr/>
          <p:nvPr/>
        </p:nvSpPr>
        <p:spPr>
          <a:xfrm>
            <a:off x="492861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882896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Escolha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82896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sugere cor + justificativa; o enfermeiro decide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423160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67144" y="1371600"/>
            <a:ext cx="1938528" cy="2377440"/>
          </a:xfrm>
          <a:prstGeom prst="roundRect">
            <a:avLst>
              <a:gd name="adj" fmla="val 3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50024" y="15727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19"/>
          <p:cNvSpPr/>
          <p:nvPr/>
        </p:nvSpPr>
        <p:spPr>
          <a:xfrm>
            <a:off x="705002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004304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Monitoramento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04304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viva com cronômetro regressivo + golden set de avaliação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" y="4069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“Uma decisão não é apenas um cálculo matemático, mas um processo político e organizacional.”  Por isso, toda decisão do sistema nasce explicada e registrada.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9" name="Text 24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2 · FUNDAMENTAÇÃO TEÓRICA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SAD clássico nos três subsistemas de Turban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24328" cy="2057400"/>
          </a:xfrm>
          <a:prstGeom prst="roundRect">
            <a:avLst>
              <a:gd name="adj" fmla="val 3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21284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com o histórico de triagens · dataset sintético de treino · golden set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1325880"/>
            <a:ext cx="2624328" cy="2057400"/>
          </a:xfrm>
          <a:prstGeom prst="roundRect">
            <a:avLst>
              <a:gd name="adj" fmla="val 3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55448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6824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78808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38728" y="221284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(interpretação) · Random Forest (velocidade) · regras determinísticas (segurança)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17336" y="1325880"/>
            <a:ext cx="2624328" cy="2057400"/>
          </a:xfrm>
          <a:prstGeom prst="roundRect">
            <a:avLst>
              <a:gd name="adj" fmla="val 3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45936" y="155448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824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86016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Diálogo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45936" y="221284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do enfermeiro: formulário, resultado explicado, fila com cronômetro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76732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Apoia, não substitui.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final e a responsabilidade permanecem com o enfermeiro. É isso que distingue um SAD de automação plena, e é o desenho correto para o domínio clínico.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17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2 · FUNDAMENTAÇÃO TEÓRICA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não usamos, e por quê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493776" cy="49377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459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898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Cadeias de Markov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68249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 transições de estado ao longo do tempo. Nossa decisão é pontual e classificatória: uma vez por paciente, na chegada. Não há processo sequencial a modelar.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395728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642616"/>
            <a:ext cx="493776" cy="49377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614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054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Simplex / Pesquisa Operacional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279806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Otimizam alocação com função objetivo. A ordenação da fila já tem regra ótima prescrita pelo próprio protocolo: gravidade, depois chegada. Otimizar o já-prescrito é complexidade sem ganho.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511296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758184"/>
            <a:ext cx="493776" cy="49377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770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2102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91363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cenários quando não há referência. Nós temos: um golden set com resposta esperada conhecida permite avaliação direta, caso a caso.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5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solução: três camadas complementares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24328" cy="2331720"/>
          </a:xfrm>
          <a:prstGeom prst="roundRect">
            <a:avLst>
              <a:gd name="adj" fmla="val 2745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8833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a zona cinzenta da linguagem natural e explica cada decisão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1371600"/>
            <a:ext cx="2624328" cy="2331720"/>
          </a:xfrm>
          <a:prstGeom prst="roundRect">
            <a:avLst>
              <a:gd name="adj" fmla="val 2745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60020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38728" y="268833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em &lt; 50 ms no modo local, com probabilidades por cor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17336" y="1371600"/>
            <a:ext cx="2624328" cy="2331720"/>
          </a:xfrm>
          <a:prstGeom prst="roundRect">
            <a:avLst>
              <a:gd name="adj" fmla="val 2745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45936" y="16002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Travas determinísticas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45936" y="268833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de segurança sobre sinais vitais: só elevam a cor, nunca rebaixam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pipelines em runtime:  Groq (nuvem, full-LLM, &lt; 1 s)   ·   Ollama (local, RF + LLM só para justificar, 1-2 s)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ambos, as travas passam por cima e a justificativa sempre é gerada.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17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da solução</a:t>
            </a:r>
            <a:endParaRPr lang="en-US" sz="2300" dirty="0"/>
          </a:p>
        </p:txBody>
      </p:sp>
      <p:pic>
        <p:nvPicPr>
          <p:cNvPr id="4" name="Image 0" descr="/tmp/imgs/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099816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0" y="1225296"/>
            <a:ext cx="457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526280" y="118872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em HTML + Tailwind + JS puro: triagem, fila viva e painel de chamada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975104"/>
            <a:ext cx="457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4526280" y="193852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com validação Pydantic; serve o frontend e persiste tudo em SQLite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724912"/>
            <a:ext cx="457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268833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escolhe o pipeline pelo backend selecionado na interface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474720"/>
            <a:ext cx="457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343814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LIMIARES_CRITICOS sobre SpO2, PA, FC e temperatura, com registro de inconsistência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4224528"/>
            <a:ext cx="4572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418795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final + justificativa + alertas + confiança, devolvido como JSON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IA, e não regras fixas ou estatística pura?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1234440"/>
          </a:xfrm>
          <a:prstGeom prst="roundRect">
            <a:avLst>
              <a:gd name="adj" fmla="val 51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“dor no peito ao respirar fundo, desde ontem”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provável quadro musculoesquelético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0" cy="868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“dor no peito em aperto, irradiando para o braço”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4632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síndrome coronariana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lexicais veem a mesma coisa: “dor no peito”. A distinção que separa as duas é semântica.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3101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14984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fixas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7512" y="3730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frágeis no texto livre; não cobrem a zona cinzenta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24328" y="315468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31012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36392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Estatística clássica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788920" y="3730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entrada estruturada; nosso RF só vê 28 flags de regex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45736" y="315468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31012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Heurísticas simples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910328" y="3730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somas ponderadas não capturam interações nem contexto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67144" y="315468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31012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3291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híbrido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031736" y="3730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o não previsto, raciocina e explica em linguagem natural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2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prompt como base de conhecimento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4572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Discriminadores Manchester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cores descritas com critérios clínicos detalhados no prompt de sistema (~2 mil tokens)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de decisão ordenadas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first · trauma penetrante = vermelho automático · combinações superam componentes isolados · idade modula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90088"/>
            <a:ext cx="4572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inventar dados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264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informação essencial? classifica conservador e devolve as perguntas a fazer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4572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803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Saída JSON estrita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41056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classificação, justificativa, sinais de alerta, perguntas adicionais e confiança · temperatura 0,2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325880"/>
            <a:ext cx="3291840" cy="3246120"/>
          </a:xfrm>
          <a:prstGeom prst="roundRect">
            <a:avLst>
              <a:gd name="adj" fmla="val 1972"/>
            </a:avLst>
          </a:prstGeom>
          <a:solidFill>
            <a:srgbClr val="0B1F2A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325880"/>
            <a:ext cx="29260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"classificacao": "VERMELHO",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"justificativa": "Dor torácica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 irradiação, SpO2 91%...",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"sinais_alerta": [...],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"perguntas_adicionais": [...],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"confianca": "ALTA"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6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Demonstração ao vivo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207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simples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14996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tosse leve → VERDE em segundos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ambíguo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23957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MÉDIA + perguntas adicionais sugeridas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Trava disparando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8992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diz LARANJA, SpO2 88% força VERMELHO + banner de inconsistência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3895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Fila viva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8992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por gravidade + cronômetro regressivo estourando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1207008"/>
            <a:ext cx="4297680" cy="2112264"/>
          </a:xfrm>
          <a:prstGeom prst="roundRect">
            <a:avLst>
              <a:gd name="adj" fmla="val 21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0" descr="/tmp/imgs/dc708f6d-6106-4f19-9e20-b8b1325dd2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1252728"/>
            <a:ext cx="4206240" cy="202082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370832" y="3456432"/>
            <a:ext cx="4297680" cy="128016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1" descr="/tmp/imgs/fila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502152"/>
            <a:ext cx="4206240" cy="120700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1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3 · SOLUÇÃO E 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Explicabilidade (XAI)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45720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70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Justificativa clínica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citando os números do paciente, gerada sempre, mesmo quando o RF decidiu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02536"/>
            <a:ext cx="45720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75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Confiança declarada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267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MÉDIA / BAIXA no LLM; probabilidades por cor no Random Forest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45720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797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Divergência exposta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0723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trava corrige o modelo, o sistema mostra as duas cores e os motivos objetivos, e grava tudo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45720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contínua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38770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de 30 vinhetas mede o comportamento em casos de referência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gestor raramente aceita decisões de uma caixa preta.”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960120"/>
            <a:ext cx="2551176" cy="4114800"/>
          </a:xfrm>
          <a:prstGeom prst="roundRect">
            <a:avLst>
              <a:gd name="adj" fmla="val 17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0" descr="/tmp/imgs/12013244-3f7e-42b9-b529-7cbeeef3e6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051560"/>
            <a:ext cx="2368296" cy="3931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4 · RESULTADOS E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Dados: sintéticos por decisão consciente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38528" cy="1645920"/>
          </a:xfrm>
          <a:prstGeom prst="roundRect">
            <a:avLst>
              <a:gd name="adj" fmla="val 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gerados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colunas, semente fixa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4328" y="1325880"/>
            <a:ext cx="1938528" cy="1645920"/>
          </a:xfrm>
          <a:prstGeom prst="roundRect">
            <a:avLst>
              <a:gd name="adj" fmla="val 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48132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15768" y="21031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cenários clínicos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23774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PCR a renovação de receita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5736" y="1325880"/>
            <a:ext cx="1938528" cy="1645920"/>
          </a:xfrm>
          <a:prstGeom prst="roundRect">
            <a:avLst>
              <a:gd name="adj" fmla="val 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48132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37176" y="21031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variáveis preditoras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7176" y="23774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+ 28 flags clínicas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67144" y="1325880"/>
            <a:ext cx="1938528" cy="1645920"/>
          </a:xfrm>
          <a:prstGeom prst="roundRect">
            <a:avLst>
              <a:gd name="adj" fmla="val 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148132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958584" y="210312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vinhetas douradas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58584" y="23774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por cor, com resposta esperada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sintéticos?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exposição de dados reais de pacientes (ética) e reprodutibilidade total: qualquer pessoa regenera o dataset e o modelo bit a bit. Classes graves e raras foram super-representadas de propósito para o RF aprender seus padrões; o mesmo extrator de variáveis roda no treino e em produção.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4 · RESULTADOS E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do classificador e do sistema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938528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5E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(holdout 20%)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24328" y="1280160"/>
            <a:ext cx="1938528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14173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5E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15768" y="2011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ponderado (5-fold CV)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45736" y="1280160"/>
            <a:ext cx="1938528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4173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5E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50 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37176" y="2011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do RF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67144" y="1280160"/>
            <a:ext cx="1938528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14173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5E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58584" y="2011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full-LLM (nuvem)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35808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o RF erra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724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concentrados entre cores adjacentes (amarelo ↔ verde), padrão clinicamente aceitável para um apoio à decisão. Recall: vermelho ~83%, azul ~80%.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09160" y="283464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035808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0680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por que isso não basta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98348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críticos que escapam com sinais vitais objetivamente alterados são capturados pelas travas. O runner ainda mede acurácia exata, ±1 cor, erros graves e latência por modelo, salvo em JSON versionável.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1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4 · RESULTADOS E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sensibilidade do sistema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Mesma queixa de dor torácica: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92 mmHg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decide o modelo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88 mmHg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trava força VERMELHO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Descontinuidade intencional no limiar de 90.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pipeline local: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“irradiando” ou “falta de ar” na descrição desliga flags do extrator e pode rebaixar a predição do RF. A qualidade da anamnese limita a qualidade da decisão.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45720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das travas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sensibilidade = mais sobretriagem; valores atuais são conservadores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3218688"/>
            <a:ext cx="45720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200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(0,2)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= respostas variáveis entre execuções idênticas; indesejável no domínio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95928"/>
            <a:ext cx="45720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modelo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raciocinam melhor; pequenos podem devolver JSON inválido (parser tolerante)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995928"/>
            <a:ext cx="45720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 calibração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classes define recalls; cortes 0,70/0,50 separam confiança alta/média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BLOCO 4 · RESULTADOS E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 IA falha: limitações com nome e sobrenome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e operacionais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em dados sintéticos: não é validação clínica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qualidade da anamnese; sem exame físico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Extrator regex só reconhece vocabulário previsto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pequenos podem gerar JSON inválido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autenticação real nem prontuário eletrônico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Éticas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8348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herdam vieses; risco maior em populações sub-representadas (pediatria, doenças tropicais)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em nuvem envia dados clínicos a terceiros; a alternativa local existe por isso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 conservadoras deixam casos limítrofes (PA = 90) com o modelo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prova de conceito acadêmica: decisão final e responsabilidade são do enfermeiro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 e a tese do trabalho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4447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dados reais anonimizados, mediante aprovação ética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09160" y="1371600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5910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7528" y="14447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Explicações por instância (SHAP) no classificador local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240280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45973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1288" y="23134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institucional e integração com prontuário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09160" y="2240280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10303C"/>
          </a:solidFill>
          <a:ln w="12700">
            <a:solidFill>
              <a:srgbClr val="1D4A5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45973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67528" y="23134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usabilidade com enfermeiros: concordância e tempo de triagem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 IA decide rápido, as regras garantem o piso,”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“e o humano dá a palavra final.”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  ·  github.com/Gabryel-w/manchester-ai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02920" y="481888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4"/>
          <p:cNvSpPr/>
          <p:nvPr/>
        </p:nvSpPr>
        <p:spPr>
          <a:xfrm>
            <a:off x="713232" y="4782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Manchester AI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41248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Manchester AI - IA no Processo Decisorio</dc:title>
  <dc:subject>PptxGenJS Presentation</dc:subject>
  <dc:creator>Grupo Manchester AI</dc:creator>
  <cp:lastModifiedBy>Grupo Manchester AI</cp:lastModifiedBy>
  <cp:revision>1</cp:revision>
  <dcterms:created xsi:type="dcterms:W3CDTF">2026-06-12T20:13:24Z</dcterms:created>
  <dcterms:modified xsi:type="dcterms:W3CDTF">2026-06-12T20:13:24Z</dcterms:modified>
</cp:coreProperties>
</file>